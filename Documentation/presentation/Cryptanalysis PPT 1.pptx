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HK Modular" charset="1" panose="00000800000000000000"/>
      <p:regular r:id="rId22"/>
    </p:embeddedFont>
    <p:embeddedFont>
      <p:font typeface="Gruppo" charset="1" panose="02000604060000020004"/>
      <p:regular r:id="rId23"/>
    </p:embeddedFont>
    <p:embeddedFont>
      <p:font typeface="Raleway Bold" charset="1" panose="00000000000000000000"/>
      <p:regular r:id="rId24"/>
    </p:embeddedFont>
    <p:embeddedFont>
      <p:font typeface="Raleway" charset="1" panose="00000000000000000000"/>
      <p:regular r:id="rId25"/>
    </p:embeddedFont>
    <p:embeddedFont>
      <p:font typeface="Lovelace Bold" charset="1" panose="00000700000000000000"/>
      <p:regular r:id="rId26"/>
    </p:embeddedFont>
    <p:embeddedFont>
      <p:font typeface="Lovelace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jpe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jpe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jpe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4235" y="-723790"/>
            <a:ext cx="3513477" cy="1884501"/>
          </a:xfrm>
          <a:custGeom>
            <a:avLst/>
            <a:gdLst/>
            <a:ahLst/>
            <a:cxnLst/>
            <a:rect r="r" b="b" t="t" l="l"/>
            <a:pathLst>
              <a:path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1"/>
                </a:lnTo>
                <a:lnTo>
                  <a:pt x="0" y="1884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01050" y="689278"/>
            <a:ext cx="3799594" cy="678844"/>
          </a:xfrm>
          <a:custGeom>
            <a:avLst/>
            <a:gdLst/>
            <a:ahLst/>
            <a:cxnLst/>
            <a:rect r="r" b="b" t="t" l="l"/>
            <a:pathLst>
              <a:path h="678844" w="3799594">
                <a:moveTo>
                  <a:pt x="0" y="0"/>
                </a:moveTo>
                <a:lnTo>
                  <a:pt x="3799594" y="0"/>
                </a:lnTo>
                <a:lnTo>
                  <a:pt x="3799594" y="678844"/>
                </a:lnTo>
                <a:lnTo>
                  <a:pt x="0" y="678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7249" y="8933667"/>
            <a:ext cx="3513477" cy="1884501"/>
          </a:xfrm>
          <a:custGeom>
            <a:avLst/>
            <a:gdLst/>
            <a:ahLst/>
            <a:cxnLst/>
            <a:rect r="r" b="b" t="t" l="l"/>
            <a:pathLst>
              <a:path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2"/>
                </a:lnTo>
                <a:lnTo>
                  <a:pt x="0" y="1884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17129" y="7588707"/>
            <a:ext cx="2311059" cy="638693"/>
          </a:xfrm>
          <a:custGeom>
            <a:avLst/>
            <a:gdLst/>
            <a:ahLst/>
            <a:cxnLst/>
            <a:rect r="r" b="b" t="t" l="l"/>
            <a:pathLst>
              <a:path h="638693" w="2311059">
                <a:moveTo>
                  <a:pt x="0" y="0"/>
                </a:moveTo>
                <a:lnTo>
                  <a:pt x="2311059" y="0"/>
                </a:lnTo>
                <a:lnTo>
                  <a:pt x="2311059" y="638693"/>
                </a:lnTo>
                <a:lnTo>
                  <a:pt x="0" y="638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37724" y="2247917"/>
            <a:ext cx="13812552" cy="130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45"/>
              </a:lnSpc>
            </a:pPr>
            <a:r>
              <a:rPr lang="en-US" sz="921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CRYPTANALYSIS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818" y="5069481"/>
            <a:ext cx="5632847" cy="221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4"/>
              </a:lnSpc>
            </a:pPr>
            <a:r>
              <a:rPr lang="en-US" sz="4707" b="true">
                <a:solidFill>
                  <a:srgbClr val="00FFFF"/>
                </a:solidFill>
                <a:latin typeface="Raleway Bold"/>
                <a:ea typeface="Raleway Bold"/>
                <a:cs typeface="Raleway Bold"/>
                <a:sym typeface="Raleway Bold"/>
              </a:rPr>
              <a:t>Mentors</a:t>
            </a:r>
            <a:r>
              <a:rPr lang="en-US" sz="4707" b="true">
                <a:solidFill>
                  <a:srgbClr val="018FA6"/>
                </a:solidFill>
                <a:latin typeface="Raleway Bold"/>
                <a:ea typeface="Raleway Bold"/>
                <a:cs typeface="Raleway Bold"/>
                <a:sym typeface="Raleway Bold"/>
              </a:rPr>
              <a:t>: </a:t>
            </a:r>
          </a:p>
          <a:p>
            <a:pPr algn="ctr">
              <a:lnSpc>
                <a:spcPts val="4171"/>
              </a:lnSpc>
            </a:pPr>
          </a:p>
          <a:p>
            <a:pPr algn="l" marL="833954" indent="-416977" lvl="1">
              <a:lnSpc>
                <a:spcPts val="4171"/>
              </a:lnSpc>
              <a:buFont typeface="Arial"/>
              <a:buChar char="•"/>
            </a:pPr>
            <a:r>
              <a:rPr lang="en-US" sz="386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GHRUANK KOTHARE</a:t>
            </a:r>
          </a:p>
          <a:p>
            <a:pPr algn="l" marL="833954" indent="-416977" lvl="1">
              <a:lnSpc>
                <a:spcPts val="4171"/>
              </a:lnSpc>
              <a:buFont typeface="Arial"/>
              <a:buChar char="•"/>
            </a:pPr>
            <a:r>
              <a:rPr lang="en-US" sz="386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AFREEN KAZI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04915" y="6236330"/>
            <a:ext cx="431090" cy="480993"/>
          </a:xfrm>
          <a:custGeom>
            <a:avLst/>
            <a:gdLst/>
            <a:ahLst/>
            <a:cxnLst/>
            <a:rect r="r" b="b" t="t" l="l"/>
            <a:pathLst>
              <a:path h="480993" w="431090">
                <a:moveTo>
                  <a:pt x="0" y="0"/>
                </a:moveTo>
                <a:lnTo>
                  <a:pt x="431089" y="0"/>
                </a:lnTo>
                <a:lnTo>
                  <a:pt x="431089" y="480993"/>
                </a:lnTo>
                <a:lnTo>
                  <a:pt x="0" y="4809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4915" y="6826956"/>
            <a:ext cx="431090" cy="480993"/>
          </a:xfrm>
          <a:custGeom>
            <a:avLst/>
            <a:gdLst/>
            <a:ahLst/>
            <a:cxnLst/>
            <a:rect r="r" b="b" t="t" l="l"/>
            <a:pathLst>
              <a:path h="480993" w="431090">
                <a:moveTo>
                  <a:pt x="0" y="0"/>
                </a:moveTo>
                <a:lnTo>
                  <a:pt x="431089" y="0"/>
                </a:lnTo>
                <a:lnTo>
                  <a:pt x="431089" y="480992"/>
                </a:lnTo>
                <a:lnTo>
                  <a:pt x="0" y="4809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69156" y="6336982"/>
            <a:ext cx="320667" cy="28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2"/>
              </a:lnSpc>
              <a:spcBef>
                <a:spcPct val="0"/>
              </a:spcBef>
            </a:pPr>
            <a:r>
              <a:rPr lang="en-US" b="true" sz="196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6963" y="6953721"/>
            <a:ext cx="285054" cy="24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6"/>
              </a:lnSpc>
              <a:spcBef>
                <a:spcPct val="0"/>
              </a:spcBef>
            </a:pPr>
            <a:r>
              <a:rPr lang="en-US" b="true" sz="1746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2.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31874" y="4983765"/>
            <a:ext cx="4976143" cy="2380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2"/>
              </a:lnSpc>
            </a:pPr>
            <a:r>
              <a:rPr lang="en-US" sz="4780" b="true">
                <a:solidFill>
                  <a:srgbClr val="00FFFF"/>
                </a:solidFill>
                <a:latin typeface="Raleway Bold"/>
                <a:ea typeface="Raleway Bold"/>
                <a:cs typeface="Raleway Bold"/>
                <a:sym typeface="Raleway Bold"/>
              </a:rPr>
              <a:t>Mentees</a:t>
            </a:r>
            <a:r>
              <a:rPr lang="en-US" sz="47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ctr">
              <a:lnSpc>
                <a:spcPts val="5162"/>
              </a:lnSpc>
              <a:spcBef>
                <a:spcPct val="0"/>
              </a:spcBef>
            </a:pPr>
          </a:p>
          <a:p>
            <a:pPr algn="l" marL="846822" indent="-423411" lvl="1">
              <a:lnSpc>
                <a:spcPts val="4236"/>
              </a:lnSpc>
              <a:buFont typeface="Arial"/>
              <a:buChar char="•"/>
            </a:pPr>
            <a:r>
              <a:rPr lang="en-US" sz="392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RISHIT MODI</a:t>
            </a:r>
          </a:p>
          <a:p>
            <a:pPr algn="l" marL="846822" indent="-423411" lvl="1">
              <a:lnSpc>
                <a:spcPts val="4236"/>
              </a:lnSpc>
              <a:buFont typeface="Arial"/>
              <a:buChar char="•"/>
            </a:pPr>
            <a:r>
              <a:rPr lang="en-US" sz="392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ANUSHKA YADAV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020144" y="6753777"/>
            <a:ext cx="431090" cy="480993"/>
          </a:xfrm>
          <a:custGeom>
            <a:avLst/>
            <a:gdLst/>
            <a:ahLst/>
            <a:cxnLst/>
            <a:rect r="r" b="b" t="t" l="l"/>
            <a:pathLst>
              <a:path h="480993" w="431090">
                <a:moveTo>
                  <a:pt x="0" y="0"/>
                </a:moveTo>
                <a:lnTo>
                  <a:pt x="431089" y="0"/>
                </a:lnTo>
                <a:lnTo>
                  <a:pt x="431089" y="480992"/>
                </a:lnTo>
                <a:lnTo>
                  <a:pt x="0" y="4809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20144" y="6236330"/>
            <a:ext cx="431090" cy="480993"/>
          </a:xfrm>
          <a:custGeom>
            <a:avLst/>
            <a:gdLst/>
            <a:ahLst/>
            <a:cxnLst/>
            <a:rect r="r" b="b" t="t" l="l"/>
            <a:pathLst>
              <a:path h="480993" w="431090">
                <a:moveTo>
                  <a:pt x="0" y="0"/>
                </a:moveTo>
                <a:lnTo>
                  <a:pt x="431089" y="0"/>
                </a:lnTo>
                <a:lnTo>
                  <a:pt x="431089" y="480993"/>
                </a:lnTo>
                <a:lnTo>
                  <a:pt x="0" y="4809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093162" y="6336982"/>
            <a:ext cx="320667" cy="28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2"/>
              </a:lnSpc>
              <a:spcBef>
                <a:spcPct val="0"/>
              </a:spcBef>
            </a:pPr>
            <a:r>
              <a:rPr lang="en-US" b="true" sz="196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1.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10968" y="6880543"/>
            <a:ext cx="285054" cy="24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6"/>
              </a:lnSpc>
              <a:spcBef>
                <a:spcPct val="0"/>
              </a:spcBef>
            </a:pPr>
            <a:r>
              <a:rPr lang="en-US" b="true" sz="1746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2.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71255" y="3888163"/>
            <a:ext cx="11545491" cy="37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  <a:spcBef>
                <a:spcPct val="0"/>
              </a:spcBef>
            </a:pPr>
            <a:r>
              <a:rPr lang="en-US" sz="26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 Energy-Based and Neuro-Symbolic Methods for Advanced Cryptanalysis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20595" y="2092484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7116" y="4088371"/>
            <a:ext cx="8376884" cy="1792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3"/>
              </a:lnSpc>
            </a:pPr>
            <a:r>
              <a:rPr lang="en-US" sz="567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PROJECT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2660" y="2121059"/>
            <a:ext cx="11909152" cy="614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6546" indent="-358273" lvl="1">
              <a:lnSpc>
                <a:spcPts val="3584"/>
              </a:lnSpc>
              <a:buFont typeface="Arial"/>
              <a:buChar char="•"/>
            </a:pPr>
            <a:r>
              <a:rPr lang="en-US" sz="331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This project aims to explore the use of AI, neural networks, and neuro-symbolic learning to analyze and break encryption schemes.</a:t>
            </a:r>
          </a:p>
          <a:p>
            <a:pPr algn="ctr">
              <a:lnSpc>
                <a:spcPts val="2492"/>
              </a:lnSpc>
            </a:pPr>
          </a:p>
          <a:p>
            <a:pPr algn="ctr" marL="716546" indent="-358273" lvl="1">
              <a:lnSpc>
                <a:spcPts val="3584"/>
              </a:lnSpc>
              <a:buFont typeface="Arial"/>
              <a:buChar char="•"/>
            </a:pPr>
            <a:r>
              <a:rPr lang="en-US" sz="331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31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We focus on attacking modern encryption systems like AES using intelligent and adaptive methods.</a:t>
            </a:r>
          </a:p>
          <a:p>
            <a:pPr algn="ctr">
              <a:lnSpc>
                <a:spcPts val="3584"/>
              </a:lnSpc>
            </a:pPr>
          </a:p>
          <a:p>
            <a:pPr algn="ctr" marL="716546" indent="-358273" lvl="1">
              <a:lnSpc>
                <a:spcPts val="3584"/>
              </a:lnSpc>
              <a:buFont typeface="Arial"/>
              <a:buChar char="•"/>
            </a:pPr>
            <a:r>
              <a:rPr lang="en-US" sz="331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We are inspired by energy-based models, Hopfield networks, symbolic logic, and quantum-inspired techniques.</a:t>
            </a:r>
          </a:p>
          <a:p>
            <a:pPr algn="ctr">
              <a:lnSpc>
                <a:spcPts val="3584"/>
              </a:lnSpc>
            </a:pPr>
          </a:p>
          <a:p>
            <a:pPr algn="ctr" marL="716546" indent="-358273" lvl="1">
              <a:lnSpc>
                <a:spcPts val="3584"/>
              </a:lnSpc>
              <a:buFont typeface="Arial"/>
              <a:buChar char="•"/>
            </a:pPr>
            <a:r>
              <a:rPr lang="en-US" sz="331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31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goal is to simulate advanced attacks and understand how encryption logic can be learned by machines.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220595" y="373976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29"/>
                </a:lnTo>
                <a:lnTo>
                  <a:pt x="0" y="518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20595" y="51435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220595" y="6887354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29"/>
                </a:lnTo>
                <a:lnTo>
                  <a:pt x="0" y="518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27485" y="367603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82326" y="3413023"/>
            <a:ext cx="1347336" cy="1503304"/>
          </a:xfrm>
          <a:custGeom>
            <a:avLst/>
            <a:gdLst/>
            <a:ahLst/>
            <a:cxnLst/>
            <a:rect r="r" b="b" t="t" l="l"/>
            <a:pathLst>
              <a:path h="1503304" w="1347336">
                <a:moveTo>
                  <a:pt x="0" y="0"/>
                </a:moveTo>
                <a:lnTo>
                  <a:pt x="1347336" y="0"/>
                </a:lnTo>
                <a:lnTo>
                  <a:pt x="1347336" y="1503303"/>
                </a:lnTo>
                <a:lnTo>
                  <a:pt x="0" y="15033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55994" y="1165379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studio shodwe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21917" y="2025881"/>
            <a:ext cx="8134270" cy="86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PROJECT GOALS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1662" y="3761150"/>
            <a:ext cx="681791" cy="59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4177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1.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777119" y="367603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431960" y="3413023"/>
            <a:ext cx="1347336" cy="1503304"/>
          </a:xfrm>
          <a:custGeom>
            <a:avLst/>
            <a:gdLst/>
            <a:ahLst/>
            <a:cxnLst/>
            <a:rect r="r" b="b" t="t" l="l"/>
            <a:pathLst>
              <a:path h="1503304" w="1347336">
                <a:moveTo>
                  <a:pt x="0" y="0"/>
                </a:moveTo>
                <a:lnTo>
                  <a:pt x="1347335" y="0"/>
                </a:lnTo>
                <a:lnTo>
                  <a:pt x="1347335" y="1503303"/>
                </a:lnTo>
                <a:lnTo>
                  <a:pt x="0" y="15033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801296" y="3761150"/>
            <a:ext cx="681791" cy="59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4177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2.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227678" y="367603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882519" y="3413023"/>
            <a:ext cx="1347336" cy="1503304"/>
          </a:xfrm>
          <a:custGeom>
            <a:avLst/>
            <a:gdLst/>
            <a:ahLst/>
            <a:cxnLst/>
            <a:rect r="r" b="b" t="t" l="l"/>
            <a:pathLst>
              <a:path h="1503304" w="1347336">
                <a:moveTo>
                  <a:pt x="0" y="0"/>
                </a:moveTo>
                <a:lnTo>
                  <a:pt x="1347336" y="0"/>
                </a:lnTo>
                <a:lnTo>
                  <a:pt x="1347336" y="1503303"/>
                </a:lnTo>
                <a:lnTo>
                  <a:pt x="0" y="15033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251855" y="3761150"/>
            <a:ext cx="681791" cy="59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4177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3.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92558" y="4373261"/>
            <a:ext cx="3773904" cy="282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9"/>
              </a:lnSpc>
              <a:spcBef>
                <a:spcPct val="0"/>
              </a:spcBef>
            </a:pPr>
            <a:r>
              <a:rPr lang="en-US" b="true" sz="4471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Cipher Cracking</a:t>
            </a:r>
          </a:p>
          <a:p>
            <a:pPr algn="ctr">
              <a:lnSpc>
                <a:spcPts val="1805"/>
              </a:lnSpc>
              <a:spcBef>
                <a:spcPct val="0"/>
              </a:spcBef>
            </a:pPr>
          </a:p>
          <a:p>
            <a:pPr algn="ctr">
              <a:lnSpc>
                <a:spcPts val="2669"/>
              </a:lnSpc>
              <a:spcBef>
                <a:spcPct val="0"/>
              </a:spcBef>
            </a:pPr>
            <a:r>
              <a:rPr lang="en-US" sz="2471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Learn to decrypt ciphertext without having the encryption key.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43087" y="4396318"/>
            <a:ext cx="3391391" cy="282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1"/>
              </a:lnSpc>
              <a:spcBef>
                <a:spcPct val="0"/>
              </a:spcBef>
            </a:pPr>
            <a:r>
              <a:rPr lang="en-US" b="true" sz="4445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Key Recovery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</a:p>
          <a:p>
            <a:pPr algn="ctr">
              <a:lnSpc>
                <a:spcPts val="2641"/>
              </a:lnSpc>
              <a:spcBef>
                <a:spcPct val="0"/>
              </a:spcBef>
            </a:pPr>
            <a:r>
              <a:rPr lang="en-US" sz="2446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Study how well modern encryption resists AI-based attacks.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92144" y="4193249"/>
            <a:ext cx="3567156" cy="306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1"/>
              </a:lnSpc>
              <a:spcBef>
                <a:spcPct val="0"/>
              </a:spcBef>
            </a:pPr>
            <a:r>
              <a:rPr lang="en-US" b="true" sz="3631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Symbolic Cipher Learning</a:t>
            </a:r>
          </a:p>
          <a:p>
            <a:pPr algn="ctr">
              <a:lnSpc>
                <a:spcPts val="2331"/>
              </a:lnSpc>
              <a:spcBef>
                <a:spcPct val="0"/>
              </a:spcBef>
            </a:pPr>
          </a:p>
          <a:p>
            <a:pPr algn="ctr">
              <a:lnSpc>
                <a:spcPts val="2437"/>
              </a:lnSpc>
              <a:spcBef>
                <a:spcPct val="0"/>
              </a:spcBef>
            </a:pPr>
            <a:r>
              <a:rPr lang="en-US" sz="2257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Train models to reverse engineer encryption logic based only on inputs and outputs.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2993" y="1534948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35055" y="9371636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81853" y="2955360"/>
            <a:ext cx="10113545" cy="5638301"/>
          </a:xfrm>
          <a:custGeom>
            <a:avLst/>
            <a:gdLst/>
            <a:ahLst/>
            <a:cxnLst/>
            <a:rect r="r" b="b" t="t" l="l"/>
            <a:pathLst>
              <a:path h="5638301" w="10113545">
                <a:moveTo>
                  <a:pt x="0" y="0"/>
                </a:moveTo>
                <a:lnTo>
                  <a:pt x="10113545" y="0"/>
                </a:lnTo>
                <a:lnTo>
                  <a:pt x="10113545" y="5638302"/>
                </a:lnTo>
                <a:lnTo>
                  <a:pt x="0" y="56383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91523" y="594258"/>
            <a:ext cx="5104954" cy="71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1"/>
              </a:lnSpc>
              <a:spcBef>
                <a:spcPct val="0"/>
              </a:spcBef>
            </a:pPr>
            <a:r>
              <a:rPr lang="en-US" sz="5075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Learnings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0821" y="1563523"/>
            <a:ext cx="3692054" cy="48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  <a:spcBef>
                <a:spcPct val="0"/>
              </a:spcBef>
            </a:pPr>
            <a:r>
              <a:rPr lang="en-US" b="true" sz="3275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Neural Network: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5471" y="2691708"/>
            <a:ext cx="7480363" cy="716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995" indent="-272998" lvl="1">
              <a:lnSpc>
                <a:spcPts val="2731"/>
              </a:lnSpc>
              <a:buFont typeface="Arial"/>
              <a:buChar char="•"/>
            </a:pPr>
            <a:r>
              <a:rPr lang="en-US" sz="2528">
                <a:solidFill>
                  <a:srgbClr val="00BBDE"/>
                </a:solidFill>
                <a:latin typeface="Lovelace"/>
                <a:ea typeface="Lovelace"/>
                <a:cs typeface="Lovelace"/>
                <a:sym typeface="Lovelace"/>
              </a:rPr>
              <a:t>Weighted sum</a:t>
            </a:r>
            <a:r>
              <a:rPr lang="en-US" sz="252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Z = W·X + b</a:t>
            </a:r>
          </a:p>
          <a:p>
            <a:pPr algn="l">
              <a:lnSpc>
                <a:spcPts val="2731"/>
              </a:lnSpc>
            </a:pPr>
          </a:p>
          <a:p>
            <a:pPr algn="l" marL="590813" indent="-295407" lvl="1">
              <a:lnSpc>
                <a:spcPts val="2955"/>
              </a:lnSpc>
              <a:buFont typeface="Arial"/>
              <a:buChar char="•"/>
            </a:pPr>
            <a:r>
              <a:rPr lang="en-US" sz="2736">
                <a:solidFill>
                  <a:srgbClr val="00BBDE"/>
                </a:solidFill>
                <a:latin typeface="Lovelace"/>
                <a:ea typeface="Lovelace"/>
                <a:cs typeface="Lovelace"/>
                <a:sym typeface="Lovelace"/>
              </a:rPr>
              <a:t>Activation Functions:</a:t>
            </a:r>
            <a:r>
              <a:rPr lang="en-US" sz="2736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  ŷ</a:t>
            </a:r>
            <a:r>
              <a:rPr lang="en-US" b="true" sz="2736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 = g(Z)</a:t>
            </a:r>
          </a:p>
          <a:p>
            <a:pPr algn="l">
              <a:lnSpc>
                <a:spcPts val="1610"/>
              </a:lnSpc>
            </a:pPr>
          </a:p>
          <a:p>
            <a:pPr algn="l">
              <a:lnSpc>
                <a:spcPts val="2731"/>
              </a:lnSpc>
            </a:pPr>
            <a:r>
              <a:rPr lang="en-US" sz="2528" u="sng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Sigmoid</a:t>
            </a:r>
            <a:r>
              <a:rPr lang="en-US" sz="252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: Good for binary outputs (0/1)</a:t>
            </a:r>
          </a:p>
          <a:p>
            <a:pPr algn="l">
              <a:lnSpc>
                <a:spcPts val="2731"/>
              </a:lnSpc>
              <a:spcBef>
                <a:spcPct val="0"/>
              </a:spcBef>
            </a:pPr>
            <a:r>
              <a:rPr lang="en-US" sz="2528" u="sng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ReLU</a:t>
            </a:r>
            <a:r>
              <a:rPr lang="en-US" sz="252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: Speeds up learning, avoids vanishing gradients</a:t>
            </a:r>
          </a:p>
          <a:p>
            <a:pPr algn="l">
              <a:lnSpc>
                <a:spcPts val="2731"/>
              </a:lnSpc>
              <a:spcBef>
                <a:spcPct val="0"/>
              </a:spcBef>
            </a:pPr>
          </a:p>
          <a:p>
            <a:pPr algn="l" marL="545995" indent="-272998" lvl="1">
              <a:lnSpc>
                <a:spcPts val="2731"/>
              </a:lnSpc>
              <a:buFont typeface="Arial"/>
              <a:buChar char="•"/>
            </a:pPr>
            <a:r>
              <a:rPr lang="en-US" sz="2528">
                <a:solidFill>
                  <a:srgbClr val="00BBDE"/>
                </a:solidFill>
                <a:latin typeface="Lovelace"/>
                <a:ea typeface="Lovelace"/>
                <a:cs typeface="Lovelace"/>
                <a:sym typeface="Lovelace"/>
              </a:rPr>
              <a:t>Forward Propagation:</a:t>
            </a:r>
            <a:r>
              <a:rPr lang="en-US" sz="252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</a:t>
            </a:r>
          </a:p>
          <a:p>
            <a:pPr algn="l">
              <a:lnSpc>
                <a:spcPts val="2731"/>
              </a:lnSpc>
            </a:pPr>
            <a:r>
              <a:rPr lang="en-US" sz="252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      Input ➝ Hidden layers ➝ Output</a:t>
            </a:r>
          </a:p>
          <a:p>
            <a:pPr algn="l">
              <a:lnSpc>
                <a:spcPts val="2731"/>
              </a:lnSpc>
            </a:pPr>
          </a:p>
          <a:p>
            <a:pPr algn="l" marL="545995" indent="-272998" lvl="1">
              <a:lnSpc>
                <a:spcPts val="2731"/>
              </a:lnSpc>
              <a:buFont typeface="Arial"/>
              <a:buChar char="•"/>
            </a:pPr>
            <a:r>
              <a:rPr lang="en-US" sz="2528">
                <a:solidFill>
                  <a:srgbClr val="00BBDE"/>
                </a:solidFill>
                <a:latin typeface="Lovelace"/>
                <a:ea typeface="Lovelace"/>
                <a:cs typeface="Lovelace"/>
                <a:sym typeface="Lovelace"/>
              </a:rPr>
              <a:t>Backpropagation</a:t>
            </a:r>
            <a:r>
              <a:rPr lang="en-US" sz="252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: Error flows backward, adjusts weights to minimize loss</a:t>
            </a:r>
          </a:p>
          <a:p>
            <a:pPr algn="l">
              <a:lnSpc>
                <a:spcPts val="2731"/>
              </a:lnSpc>
            </a:pPr>
          </a:p>
          <a:p>
            <a:pPr algn="l" marL="545995" indent="-272998" lvl="1">
              <a:lnSpc>
                <a:spcPts val="2731"/>
              </a:lnSpc>
              <a:buFont typeface="Arial"/>
              <a:buChar char="•"/>
            </a:pPr>
            <a:r>
              <a:rPr lang="en-US" sz="2528">
                <a:solidFill>
                  <a:srgbClr val="00BBDE"/>
                </a:solidFill>
                <a:latin typeface="Lovelace"/>
                <a:ea typeface="Lovelace"/>
                <a:cs typeface="Lovelace"/>
                <a:sym typeface="Lovelace"/>
              </a:rPr>
              <a:t>Loss Function:</a:t>
            </a:r>
            <a:r>
              <a:rPr lang="en-US" sz="252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Binary/Categorical Cross Entropy used to measure prediction error</a:t>
            </a:r>
          </a:p>
          <a:p>
            <a:pPr algn="l">
              <a:lnSpc>
                <a:spcPts val="2731"/>
              </a:lnSpc>
            </a:pPr>
            <a:r>
              <a:rPr lang="en-US" sz="252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      L(ŷ, y) = - y log(ŷ) - (1 - y) log(1 - ŷ)</a:t>
            </a:r>
          </a:p>
          <a:p>
            <a:pPr algn="l">
              <a:lnSpc>
                <a:spcPts val="2731"/>
              </a:lnSpc>
            </a:pPr>
          </a:p>
          <a:p>
            <a:pPr algn="l" marL="545995" indent="-272998" lvl="1">
              <a:lnSpc>
                <a:spcPts val="2731"/>
              </a:lnSpc>
              <a:buFont typeface="Arial"/>
              <a:buChar char="•"/>
            </a:pPr>
            <a:r>
              <a:rPr lang="en-US" sz="2528">
                <a:solidFill>
                  <a:srgbClr val="00BBDE"/>
                </a:solidFill>
                <a:latin typeface="Lovelace"/>
                <a:ea typeface="Lovelace"/>
                <a:cs typeface="Lovelace"/>
                <a:sym typeface="Lovelace"/>
              </a:rPr>
              <a:t>Gradient Descent:</a:t>
            </a:r>
            <a:r>
              <a:rPr lang="en-US" sz="252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Update weights to reduce loss ==&gt;    w = w - α*dw</a:t>
            </a:r>
          </a:p>
          <a:p>
            <a:pPr algn="l">
              <a:lnSpc>
                <a:spcPts val="273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7284" y="9371636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05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1941283"/>
            <a:ext cx="3476543" cy="3476543"/>
          </a:xfrm>
          <a:custGeom>
            <a:avLst/>
            <a:gdLst/>
            <a:ahLst/>
            <a:cxnLst/>
            <a:rect r="r" b="b" t="t" l="l"/>
            <a:pathLst>
              <a:path h="3476543" w="3476543">
                <a:moveTo>
                  <a:pt x="0" y="0"/>
                </a:moveTo>
                <a:lnTo>
                  <a:pt x="3476543" y="0"/>
                </a:lnTo>
                <a:lnTo>
                  <a:pt x="3476543" y="3476543"/>
                </a:lnTo>
                <a:lnTo>
                  <a:pt x="0" y="34765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69035" y="807800"/>
            <a:ext cx="10749930" cy="48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5"/>
              </a:lnSpc>
              <a:spcBef>
                <a:spcPct val="0"/>
              </a:spcBef>
            </a:pPr>
            <a:r>
              <a:rPr lang="en-US" sz="3375">
                <a:solidFill>
                  <a:srgbClr val="00FFFF"/>
                </a:solidFill>
                <a:latin typeface="HK Modular"/>
                <a:ea typeface="HK Modular"/>
                <a:cs typeface="HK Modular"/>
                <a:sym typeface="HK Modular"/>
              </a:rPr>
              <a:t>Improving Deep Neural Networks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05082" y="6071244"/>
            <a:ext cx="3476543" cy="3476543"/>
          </a:xfrm>
          <a:custGeom>
            <a:avLst/>
            <a:gdLst/>
            <a:ahLst/>
            <a:cxnLst/>
            <a:rect r="r" b="b" t="t" l="l"/>
            <a:pathLst>
              <a:path h="3476543" w="3476543">
                <a:moveTo>
                  <a:pt x="0" y="0"/>
                </a:moveTo>
                <a:lnTo>
                  <a:pt x="3476543" y="0"/>
                </a:lnTo>
                <a:lnTo>
                  <a:pt x="3476543" y="3476543"/>
                </a:lnTo>
                <a:lnTo>
                  <a:pt x="0" y="34765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41811" y="1941283"/>
            <a:ext cx="3476543" cy="3476543"/>
          </a:xfrm>
          <a:custGeom>
            <a:avLst/>
            <a:gdLst/>
            <a:ahLst/>
            <a:cxnLst/>
            <a:rect r="r" b="b" t="t" l="l"/>
            <a:pathLst>
              <a:path h="3476543" w="3476543">
                <a:moveTo>
                  <a:pt x="0" y="0"/>
                </a:moveTo>
                <a:lnTo>
                  <a:pt x="3476543" y="0"/>
                </a:lnTo>
                <a:lnTo>
                  <a:pt x="3476543" y="3476543"/>
                </a:lnTo>
                <a:lnTo>
                  <a:pt x="0" y="34765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05729" y="1941283"/>
            <a:ext cx="3476543" cy="3476543"/>
          </a:xfrm>
          <a:custGeom>
            <a:avLst/>
            <a:gdLst/>
            <a:ahLst/>
            <a:cxnLst/>
            <a:rect r="r" b="b" t="t" l="l"/>
            <a:pathLst>
              <a:path h="3476543" w="3476543">
                <a:moveTo>
                  <a:pt x="0" y="0"/>
                </a:moveTo>
                <a:lnTo>
                  <a:pt x="3476542" y="0"/>
                </a:lnTo>
                <a:lnTo>
                  <a:pt x="3476542" y="3476543"/>
                </a:lnTo>
                <a:lnTo>
                  <a:pt x="0" y="34765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610947" y="6071244"/>
            <a:ext cx="3476543" cy="3476543"/>
          </a:xfrm>
          <a:custGeom>
            <a:avLst/>
            <a:gdLst/>
            <a:ahLst/>
            <a:cxnLst/>
            <a:rect r="r" b="b" t="t" l="l"/>
            <a:pathLst>
              <a:path h="3476543" w="3476543">
                <a:moveTo>
                  <a:pt x="0" y="0"/>
                </a:moveTo>
                <a:lnTo>
                  <a:pt x="3476543" y="0"/>
                </a:lnTo>
                <a:lnTo>
                  <a:pt x="3476543" y="3476543"/>
                </a:lnTo>
                <a:lnTo>
                  <a:pt x="0" y="34765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16719" y="2625157"/>
            <a:ext cx="3188523" cy="213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  <a:spcBef>
                <a:spcPct val="0"/>
              </a:spcBef>
            </a:pPr>
            <a:r>
              <a:rPr lang="en-US" b="true" sz="3261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Weight Initialization</a:t>
            </a:r>
          </a:p>
          <a:p>
            <a:pPr algn="ctr">
              <a:lnSpc>
                <a:spcPts val="2412"/>
              </a:lnSpc>
              <a:spcBef>
                <a:spcPct val="0"/>
              </a:spcBef>
            </a:pPr>
          </a:p>
          <a:p>
            <a:pPr algn="ctr">
              <a:lnSpc>
                <a:spcPts val="2412"/>
              </a:lnSpc>
              <a:spcBef>
                <a:spcPct val="0"/>
              </a:spcBef>
            </a:pPr>
            <a:r>
              <a:rPr lang="en-US" sz="2233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Prevents vanishing/exploding gradients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05243" y="6929293"/>
            <a:ext cx="2982278" cy="1789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7"/>
              </a:lnSpc>
              <a:spcBef>
                <a:spcPct val="0"/>
              </a:spcBef>
            </a:pPr>
            <a:r>
              <a:rPr lang="en-US" b="true" sz="2905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Regularization</a:t>
            </a:r>
          </a:p>
          <a:p>
            <a:pPr algn="ctr">
              <a:lnSpc>
                <a:spcPts val="2959"/>
              </a:lnSpc>
              <a:spcBef>
                <a:spcPct val="0"/>
              </a:spcBef>
            </a:pPr>
            <a:r>
              <a:rPr lang="en-US" sz="2739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(L2, Dropout)</a:t>
            </a:r>
          </a:p>
          <a:p>
            <a:pPr algn="ctr">
              <a:lnSpc>
                <a:spcPts val="2699"/>
              </a:lnSpc>
              <a:spcBef>
                <a:spcPct val="0"/>
              </a:spcBef>
            </a:pPr>
          </a:p>
          <a:p>
            <a:pPr algn="ctr">
              <a:lnSpc>
                <a:spcPts val="26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Reduces overfitting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35807" y="2836018"/>
            <a:ext cx="3346464" cy="1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  <a:spcBef>
                <a:spcPct val="0"/>
              </a:spcBef>
            </a:pPr>
            <a:r>
              <a:rPr lang="en-US" b="true" sz="3075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Optimization Techniques</a:t>
            </a:r>
          </a:p>
          <a:p>
            <a:pPr algn="ctr">
              <a:lnSpc>
                <a:spcPts val="2241"/>
              </a:lnSpc>
              <a:spcBef>
                <a:spcPct val="0"/>
              </a:spcBef>
            </a:pPr>
          </a:p>
          <a:p>
            <a:pPr algn="ctr" marL="448064" indent="-224032" lvl="1">
              <a:lnSpc>
                <a:spcPts val="2241"/>
              </a:lnSpc>
              <a:buFont typeface="Arial"/>
              <a:buChar char="•"/>
            </a:pPr>
            <a:r>
              <a:rPr lang="en-US" sz="20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 Gradient Descent,</a:t>
            </a:r>
          </a:p>
          <a:p>
            <a:pPr algn="ctr" marL="448064" indent="-224032" lvl="1">
              <a:lnSpc>
                <a:spcPts val="2241"/>
              </a:lnSpc>
              <a:buFont typeface="Arial"/>
              <a:buChar char="•"/>
            </a:pPr>
            <a:r>
              <a:rPr lang="en-US" sz="20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Adam Optimizer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41026" y="6970401"/>
            <a:ext cx="3346464" cy="1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  <a:spcBef>
                <a:spcPct val="0"/>
              </a:spcBef>
            </a:pPr>
            <a:r>
              <a:rPr lang="en-US" b="true" sz="3075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Gradient Checking</a:t>
            </a:r>
          </a:p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 </a:t>
            </a:r>
          </a:p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Debug tool to validate backpropagation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48465" y="2845543"/>
            <a:ext cx="3269889" cy="1559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1"/>
              </a:lnSpc>
              <a:spcBef>
                <a:spcPct val="0"/>
              </a:spcBef>
            </a:pPr>
            <a:r>
              <a:rPr lang="en-US" b="true" sz="2575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Hyperparameter Tuning</a:t>
            </a:r>
          </a:p>
          <a:p>
            <a:pPr algn="ctr">
              <a:lnSpc>
                <a:spcPts val="2241"/>
              </a:lnSpc>
              <a:spcBef>
                <a:spcPct val="0"/>
              </a:spcBef>
            </a:pPr>
          </a:p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Layer size, learning rate, iterations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75846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59300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6390" y="922398"/>
            <a:ext cx="13075221" cy="67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7"/>
              </a:lnSpc>
              <a:spcBef>
                <a:spcPct val="0"/>
              </a:spcBef>
            </a:pPr>
            <a:r>
              <a:rPr lang="en-US" sz="4775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From Theory to Application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6349" y="2426223"/>
            <a:ext cx="9738526" cy="621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62297" indent="-381149" lvl="1">
              <a:lnSpc>
                <a:spcPts val="3813"/>
              </a:lnSpc>
              <a:buFont typeface="Arial"/>
              <a:buChar char="•"/>
            </a:pPr>
            <a:r>
              <a:rPr lang="en-US" sz="3530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DNNs to map ciphertext → plaintext</a:t>
            </a:r>
          </a:p>
          <a:p>
            <a:pPr algn="ctr">
              <a:lnSpc>
                <a:spcPts val="3813"/>
              </a:lnSpc>
            </a:pPr>
          </a:p>
          <a:p>
            <a:pPr algn="ctr" marL="762297" indent="-381149" lvl="1">
              <a:lnSpc>
                <a:spcPts val="3813"/>
              </a:lnSpc>
              <a:buFont typeface="Arial"/>
              <a:buChar char="•"/>
            </a:pPr>
            <a:r>
              <a:rPr lang="en-US" sz="3530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ReLU/Sigmoid to model encryption logic</a:t>
            </a:r>
          </a:p>
          <a:p>
            <a:pPr algn="ctr">
              <a:lnSpc>
                <a:spcPts val="3813"/>
              </a:lnSpc>
            </a:pPr>
          </a:p>
          <a:p>
            <a:pPr algn="ctr" marL="762297" indent="-381149" lvl="1">
              <a:lnSpc>
                <a:spcPts val="3813"/>
              </a:lnSpc>
              <a:buFont typeface="Arial"/>
              <a:buChar char="•"/>
            </a:pPr>
            <a:r>
              <a:rPr lang="en-US" sz="3530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Vectorization for faster data handling</a:t>
            </a:r>
          </a:p>
          <a:p>
            <a:pPr algn="ctr">
              <a:lnSpc>
                <a:spcPts val="3813"/>
              </a:lnSpc>
            </a:pPr>
          </a:p>
          <a:p>
            <a:pPr algn="ctr" marL="762297" indent="-381149" lvl="1">
              <a:lnSpc>
                <a:spcPts val="3813"/>
              </a:lnSpc>
              <a:buFont typeface="Arial"/>
              <a:buChar char="•"/>
            </a:pPr>
            <a:r>
              <a:rPr lang="en-US" sz="3530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Dropout &amp; L2 to reduce overfitting</a:t>
            </a:r>
          </a:p>
          <a:p>
            <a:pPr algn="ctr">
              <a:lnSpc>
                <a:spcPts val="3813"/>
              </a:lnSpc>
            </a:pPr>
          </a:p>
          <a:p>
            <a:pPr algn="ctr" marL="762297" indent="-381149" lvl="1">
              <a:lnSpc>
                <a:spcPts val="3813"/>
              </a:lnSpc>
              <a:buFont typeface="Arial"/>
              <a:buChar char="•"/>
            </a:pPr>
            <a:r>
              <a:rPr lang="en-US" sz="3530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Adam for quick optimization</a:t>
            </a:r>
          </a:p>
          <a:p>
            <a:pPr algn="ctr">
              <a:lnSpc>
                <a:spcPts val="3813"/>
              </a:lnSpc>
            </a:pPr>
          </a:p>
          <a:p>
            <a:pPr algn="ctr" marL="762297" indent="-381149" lvl="1">
              <a:lnSpc>
                <a:spcPts val="3813"/>
              </a:lnSpc>
              <a:buFont typeface="Arial"/>
              <a:buChar char="•"/>
            </a:pPr>
            <a:r>
              <a:rPr lang="en-US" sz="3530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Gradient check for accuracy</a:t>
            </a:r>
          </a:p>
          <a:p>
            <a:pPr algn="ctr">
              <a:lnSpc>
                <a:spcPts val="3813"/>
              </a:lnSpc>
            </a:pPr>
          </a:p>
          <a:p>
            <a:pPr algn="ctr" marL="762297" indent="-381149" lvl="1">
              <a:lnSpc>
                <a:spcPts val="3813"/>
              </a:lnSpc>
              <a:buFont typeface="Arial"/>
              <a:buChar char="•"/>
            </a:pPr>
            <a:r>
              <a:rPr lang="en-US" sz="3530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Mini-batch training for scalability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780597" y="2397648"/>
            <a:ext cx="3598971" cy="5754169"/>
          </a:xfrm>
          <a:custGeom>
            <a:avLst/>
            <a:gdLst/>
            <a:ahLst/>
            <a:cxnLst/>
            <a:rect r="r" b="b" t="t" l="l"/>
            <a:pathLst>
              <a:path h="5754169" w="3598971">
                <a:moveTo>
                  <a:pt x="0" y="0"/>
                </a:moveTo>
                <a:lnTo>
                  <a:pt x="3598971" y="0"/>
                </a:lnTo>
                <a:lnTo>
                  <a:pt x="3598971" y="5754169"/>
                </a:lnTo>
                <a:lnTo>
                  <a:pt x="0" y="57541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3597178" y="3291828"/>
            <a:ext cx="3965809" cy="3965809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10"/>
              <a:stretch>
                <a:fillRect l="-38492" t="0" r="-38492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4656" y="1084613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5" y="0"/>
                </a:lnTo>
                <a:lnTo>
                  <a:pt x="551415" y="518329"/>
                </a:lnTo>
                <a:lnTo>
                  <a:pt x="0" y="518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86160" y="699514"/>
            <a:ext cx="7551018" cy="83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5"/>
              </a:lnSpc>
              <a:spcBef>
                <a:spcPct val="0"/>
              </a:spcBef>
            </a:pPr>
            <a:r>
              <a:rPr lang="en-US" sz="5875">
                <a:solidFill>
                  <a:srgbClr val="00FFFF"/>
                </a:solidFill>
                <a:latin typeface="HK Modular"/>
                <a:ea typeface="HK Modular"/>
                <a:cs typeface="HK Modular"/>
                <a:sym typeface="HK Modular"/>
              </a:rPr>
              <a:t>Mini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25338" y="1954181"/>
            <a:ext cx="10672664" cy="47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  <a:spcBef>
                <a:spcPct val="0"/>
              </a:spcBef>
            </a:pPr>
            <a:r>
              <a:rPr lang="en-US" b="true" sz="3275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Caesar Cipher Decrypter using Neural Networks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828523"/>
            <a:ext cx="6784259" cy="382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1"/>
              </a:lnSpc>
              <a:spcBef>
                <a:spcPct val="0"/>
              </a:spcBef>
            </a:pPr>
            <a:r>
              <a:rPr lang="en-US" b="true" sz="3575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Objective:</a:t>
            </a:r>
          </a:p>
          <a:p>
            <a:pPr algn="ctr">
              <a:lnSpc>
                <a:spcPts val="2997"/>
              </a:lnSpc>
              <a:spcBef>
                <a:spcPct val="0"/>
              </a:spcBef>
            </a:pPr>
          </a:p>
          <a:p>
            <a:pPr algn="ctr" marL="599191" indent="-299595" lvl="1">
              <a:lnSpc>
                <a:spcPts val="2997"/>
              </a:lnSpc>
              <a:buFont typeface="Arial"/>
              <a:buChar char="•"/>
            </a:pPr>
            <a:r>
              <a:rPr lang="en-US" sz="27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Encrypt plaintext using Caesar Cipher</a:t>
            </a:r>
          </a:p>
          <a:p>
            <a:pPr algn="ctr">
              <a:lnSpc>
                <a:spcPts val="2997"/>
              </a:lnSpc>
            </a:pPr>
          </a:p>
          <a:p>
            <a:pPr algn="ctr" marL="599191" indent="-299595" lvl="1">
              <a:lnSpc>
                <a:spcPts val="2997"/>
              </a:lnSpc>
              <a:buFont typeface="Arial"/>
              <a:buChar char="•"/>
            </a:pPr>
            <a:r>
              <a:rPr lang="en-US" sz="27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Decrypt ciphertext using a trained neural network</a:t>
            </a:r>
          </a:p>
          <a:p>
            <a:pPr algn="ctr">
              <a:lnSpc>
                <a:spcPts val="2997"/>
              </a:lnSpc>
            </a:pPr>
          </a:p>
          <a:p>
            <a:pPr algn="ctr" marL="556012" indent="-278006" lvl="1">
              <a:lnSpc>
                <a:spcPts val="2781"/>
              </a:lnSpc>
              <a:buFont typeface="Arial"/>
              <a:buChar char="•"/>
            </a:pPr>
            <a:r>
              <a:rPr lang="en-US" sz="25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No prior knowledge of shift required during decryption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82335" y="3828523"/>
            <a:ext cx="7139491" cy="385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3"/>
              </a:lnSpc>
              <a:spcBef>
                <a:spcPct val="0"/>
              </a:spcBef>
            </a:pPr>
            <a:r>
              <a:rPr lang="en-US" b="true" sz="3475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Model Design:</a:t>
            </a:r>
          </a:p>
          <a:p>
            <a:pPr algn="ctr">
              <a:lnSpc>
                <a:spcPts val="2997"/>
              </a:lnSpc>
              <a:spcBef>
                <a:spcPct val="0"/>
              </a:spcBef>
            </a:pPr>
          </a:p>
          <a:p>
            <a:pPr algn="ctr" marL="599191" indent="-299595" lvl="1">
              <a:lnSpc>
                <a:spcPts val="2997"/>
              </a:lnSpc>
              <a:buFont typeface="Arial"/>
              <a:buChar char="•"/>
            </a:pPr>
            <a:r>
              <a:rPr lang="en-US" sz="27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2/</a:t>
            </a:r>
            <a:r>
              <a:rPr lang="en-US" sz="27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4-layer Feedforward Neural Network</a:t>
            </a:r>
          </a:p>
          <a:p>
            <a:pPr algn="ctr">
              <a:lnSpc>
                <a:spcPts val="2997"/>
              </a:lnSpc>
            </a:pPr>
          </a:p>
          <a:p>
            <a:pPr algn="ctr" marL="599191" indent="-299595" lvl="1">
              <a:lnSpc>
                <a:spcPts val="2997"/>
              </a:lnSpc>
              <a:buFont typeface="Arial"/>
              <a:buChar char="•"/>
            </a:pPr>
            <a:r>
              <a:rPr lang="en-US" sz="27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Activation: ReLU (hidden), Sigmoid (output)</a:t>
            </a:r>
          </a:p>
          <a:p>
            <a:pPr algn="ctr">
              <a:lnSpc>
                <a:spcPts val="2997"/>
              </a:lnSpc>
            </a:pPr>
          </a:p>
          <a:p>
            <a:pPr algn="ctr" marL="599191" indent="-299595" lvl="1">
              <a:lnSpc>
                <a:spcPts val="2997"/>
              </a:lnSpc>
              <a:buFont typeface="Arial"/>
              <a:buChar char="•"/>
            </a:pPr>
            <a:r>
              <a:rPr lang="en-US" sz="27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Encoded input/output using one-hot vectors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8453762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00173" y="6197612"/>
            <a:ext cx="6221174" cy="3020097"/>
          </a:xfrm>
          <a:custGeom>
            <a:avLst/>
            <a:gdLst/>
            <a:ahLst/>
            <a:cxnLst/>
            <a:rect r="r" b="b" t="t" l="l"/>
            <a:pathLst>
              <a:path h="3020097" w="6221174">
                <a:moveTo>
                  <a:pt x="0" y="0"/>
                </a:moveTo>
                <a:lnTo>
                  <a:pt x="6221174" y="0"/>
                </a:lnTo>
                <a:lnTo>
                  <a:pt x="6221174" y="3020097"/>
                </a:lnTo>
                <a:lnTo>
                  <a:pt x="0" y="3020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0905" y="2614558"/>
            <a:ext cx="8634090" cy="5028513"/>
          </a:xfrm>
          <a:custGeom>
            <a:avLst/>
            <a:gdLst/>
            <a:ahLst/>
            <a:cxnLst/>
            <a:rect r="r" b="b" t="t" l="l"/>
            <a:pathLst>
              <a:path h="5028513" w="8634090">
                <a:moveTo>
                  <a:pt x="0" y="0"/>
                </a:moveTo>
                <a:lnTo>
                  <a:pt x="8634090" y="0"/>
                </a:lnTo>
                <a:lnTo>
                  <a:pt x="8634090" y="5028513"/>
                </a:lnTo>
                <a:lnTo>
                  <a:pt x="0" y="50285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74382" y="7080924"/>
            <a:ext cx="4672757" cy="1532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4"/>
              </a:lnSpc>
              <a:spcBef>
                <a:spcPct val="0"/>
              </a:spcBef>
            </a:pPr>
            <a:r>
              <a:rPr lang="en-US" b="true" sz="4902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 Performance</a:t>
            </a:r>
            <a:r>
              <a:rPr lang="en-US" sz="4902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:</a:t>
            </a:r>
          </a:p>
          <a:p>
            <a:pPr algn="ctr">
              <a:lnSpc>
                <a:spcPts val="3350"/>
              </a:lnSpc>
              <a:spcBef>
                <a:spcPct val="0"/>
              </a:spcBef>
            </a:pPr>
            <a:r>
              <a:rPr lang="en-US" sz="3102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Train Accuracy: 4.88%</a:t>
            </a:r>
          </a:p>
          <a:p>
            <a:pPr algn="ctr">
              <a:lnSpc>
                <a:spcPts val="3350"/>
              </a:lnSpc>
              <a:spcBef>
                <a:spcPct val="0"/>
              </a:spcBef>
            </a:pPr>
            <a:r>
              <a:rPr lang="en-US" sz="3102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Test Accuracy: 4.16%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50396" y="739897"/>
            <a:ext cx="6587207" cy="41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5"/>
              </a:lnSpc>
              <a:spcBef>
                <a:spcPct val="0"/>
              </a:spcBef>
            </a:pPr>
            <a:r>
              <a:rPr lang="en-US" sz="2875">
                <a:solidFill>
                  <a:srgbClr val="00FFFF"/>
                </a:solidFill>
                <a:latin typeface="HK Modular"/>
                <a:ea typeface="HK Modular"/>
                <a:cs typeface="HK Modular"/>
                <a:sym typeface="HK Modular"/>
              </a:rPr>
              <a:t>2 layer Neural Network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8453762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00173" y="6197612"/>
            <a:ext cx="6221174" cy="3020097"/>
          </a:xfrm>
          <a:custGeom>
            <a:avLst/>
            <a:gdLst/>
            <a:ahLst/>
            <a:cxnLst/>
            <a:rect r="r" b="b" t="t" l="l"/>
            <a:pathLst>
              <a:path h="3020097" w="6221174">
                <a:moveTo>
                  <a:pt x="0" y="0"/>
                </a:moveTo>
                <a:lnTo>
                  <a:pt x="6221174" y="0"/>
                </a:lnTo>
                <a:lnTo>
                  <a:pt x="6221174" y="3020097"/>
                </a:lnTo>
                <a:lnTo>
                  <a:pt x="0" y="3020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006" y="2059176"/>
            <a:ext cx="6794549" cy="5882440"/>
          </a:xfrm>
          <a:custGeom>
            <a:avLst/>
            <a:gdLst/>
            <a:ahLst/>
            <a:cxnLst/>
            <a:rect r="r" b="b" t="t" l="l"/>
            <a:pathLst>
              <a:path h="5882440" w="6794549">
                <a:moveTo>
                  <a:pt x="0" y="0"/>
                </a:moveTo>
                <a:lnTo>
                  <a:pt x="6794550" y="0"/>
                </a:lnTo>
                <a:lnTo>
                  <a:pt x="6794550" y="5882440"/>
                </a:lnTo>
                <a:lnTo>
                  <a:pt x="0" y="58824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74382" y="7080924"/>
            <a:ext cx="4672757" cy="1532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4"/>
              </a:lnSpc>
              <a:spcBef>
                <a:spcPct val="0"/>
              </a:spcBef>
            </a:pPr>
            <a:r>
              <a:rPr lang="en-US" b="true" sz="4902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 Performance</a:t>
            </a:r>
            <a:r>
              <a:rPr lang="en-US" sz="4902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:</a:t>
            </a:r>
          </a:p>
          <a:p>
            <a:pPr algn="ctr">
              <a:lnSpc>
                <a:spcPts val="3350"/>
              </a:lnSpc>
              <a:spcBef>
                <a:spcPct val="0"/>
              </a:spcBef>
            </a:pPr>
            <a:r>
              <a:rPr lang="en-US" sz="3102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Train Accuracy: 96.15%</a:t>
            </a:r>
          </a:p>
          <a:p>
            <a:pPr algn="ctr">
              <a:lnSpc>
                <a:spcPts val="3350"/>
              </a:lnSpc>
              <a:spcBef>
                <a:spcPct val="0"/>
              </a:spcBef>
            </a:pPr>
            <a:r>
              <a:rPr lang="en-US" sz="3102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Test Accuracy: 96.15%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61222" y="749422"/>
            <a:ext cx="10165556" cy="37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  <a:spcBef>
                <a:spcPct val="0"/>
              </a:spcBef>
            </a:pPr>
            <a:r>
              <a:rPr lang="en-US" sz="2675">
                <a:solidFill>
                  <a:srgbClr val="00FFFF"/>
                </a:solidFill>
                <a:latin typeface="HK Modular"/>
                <a:ea typeface="HK Modular"/>
                <a:cs typeface="HK Modular"/>
                <a:sym typeface="HK Modular"/>
              </a:rPr>
              <a:t>4 layer Neural Network with fixed key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286" y="366731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29"/>
                </a:lnTo>
                <a:lnTo>
                  <a:pt x="0" y="518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72444" y="495679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6"/>
                </a:lnTo>
                <a:lnTo>
                  <a:pt x="0" y="4503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32835" y="495679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6"/>
                </a:lnTo>
                <a:lnTo>
                  <a:pt x="0" y="4503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8453762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00173" y="6197612"/>
            <a:ext cx="6221174" cy="3020097"/>
          </a:xfrm>
          <a:custGeom>
            <a:avLst/>
            <a:gdLst/>
            <a:ahLst/>
            <a:cxnLst/>
            <a:rect r="r" b="b" t="t" l="l"/>
            <a:pathLst>
              <a:path h="3020097" w="6221174">
                <a:moveTo>
                  <a:pt x="0" y="0"/>
                </a:moveTo>
                <a:lnTo>
                  <a:pt x="6221174" y="0"/>
                </a:lnTo>
                <a:lnTo>
                  <a:pt x="6221174" y="3020097"/>
                </a:lnTo>
                <a:lnTo>
                  <a:pt x="0" y="3020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8787" y="2225300"/>
            <a:ext cx="6472542" cy="5635360"/>
          </a:xfrm>
          <a:custGeom>
            <a:avLst/>
            <a:gdLst/>
            <a:ahLst/>
            <a:cxnLst/>
            <a:rect r="r" b="b" t="t" l="l"/>
            <a:pathLst>
              <a:path h="5635360" w="6472542">
                <a:moveTo>
                  <a:pt x="0" y="0"/>
                </a:moveTo>
                <a:lnTo>
                  <a:pt x="6472543" y="0"/>
                </a:lnTo>
                <a:lnTo>
                  <a:pt x="6472543" y="5635360"/>
                </a:lnTo>
                <a:lnTo>
                  <a:pt x="0" y="56353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40340" y="7080924"/>
            <a:ext cx="4700513" cy="1532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4"/>
              </a:lnSpc>
              <a:spcBef>
                <a:spcPct val="0"/>
              </a:spcBef>
            </a:pPr>
            <a:r>
              <a:rPr lang="en-US" b="true" sz="4902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 Performance</a:t>
            </a:r>
            <a:r>
              <a:rPr lang="en-US" sz="4902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:</a:t>
            </a:r>
          </a:p>
          <a:p>
            <a:pPr algn="ctr">
              <a:lnSpc>
                <a:spcPts val="3350"/>
              </a:lnSpc>
              <a:spcBef>
                <a:spcPct val="0"/>
              </a:spcBef>
            </a:pPr>
            <a:r>
              <a:rPr lang="en-US" sz="3102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Train Accuracy: 97.49%</a:t>
            </a:r>
          </a:p>
          <a:p>
            <a:pPr algn="ctr">
              <a:lnSpc>
                <a:spcPts val="3350"/>
              </a:lnSpc>
              <a:spcBef>
                <a:spcPct val="0"/>
              </a:spcBef>
            </a:pPr>
            <a:r>
              <a:rPr lang="en-US" sz="3102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Test Accuracy: 97.50%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2993" y="1264445"/>
            <a:ext cx="16289709" cy="37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  <a:spcBef>
                <a:spcPct val="0"/>
              </a:spcBef>
            </a:pPr>
            <a:r>
              <a:rPr lang="en-US" sz="2675">
                <a:solidFill>
                  <a:srgbClr val="00FFFF"/>
                </a:solidFill>
                <a:latin typeface="HK Modular"/>
                <a:ea typeface="HK Modular"/>
                <a:cs typeface="HK Modular"/>
                <a:sym typeface="HK Modular"/>
              </a:rPr>
              <a:t>4 layer Neural Network with variable key and word length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3098" y="9599344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1853" y="9267825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11677" y="722456"/>
            <a:ext cx="4664646" cy="565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3"/>
              </a:lnSpc>
              <a:spcBef>
                <a:spcPct val="0"/>
              </a:spcBef>
            </a:pPr>
            <a:r>
              <a:rPr lang="en-US" sz="397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Future 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31842" y="2164595"/>
            <a:ext cx="3248819" cy="63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  <a:spcBef>
                <a:spcPct val="0"/>
              </a:spcBef>
            </a:pPr>
          </a:p>
          <a:p>
            <a:pPr algn="ctr">
              <a:lnSpc>
                <a:spcPts val="2884"/>
              </a:lnSpc>
              <a:spcBef>
                <a:spcPct val="0"/>
              </a:spcBef>
            </a:pPr>
            <a:r>
              <a:rPr lang="en-US" sz="2670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Phase 3:</a:t>
            </a:r>
          </a:p>
          <a:p>
            <a:pPr algn="ctr">
              <a:lnSpc>
                <a:spcPts val="2884"/>
              </a:lnSpc>
              <a:spcBef>
                <a:spcPct val="0"/>
              </a:spcBef>
            </a:pPr>
          </a:p>
          <a:p>
            <a:pPr algn="l" marL="576578" indent="-288289" lvl="1">
              <a:lnSpc>
                <a:spcPts val="2884"/>
              </a:lnSpc>
              <a:buFont typeface="Arial"/>
              <a:buChar char="•"/>
            </a:pPr>
            <a:r>
              <a:rPr lang="en-US" sz="2670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Symbolic Logic Integration</a:t>
            </a:r>
          </a:p>
          <a:p>
            <a:pPr algn="l">
              <a:lnSpc>
                <a:spcPts val="2884"/>
              </a:lnSpc>
            </a:pPr>
          </a:p>
          <a:p>
            <a:pPr algn="l" marL="619758" indent="-309879" lvl="1">
              <a:lnSpc>
                <a:spcPts val="3100"/>
              </a:lnSpc>
              <a:buFont typeface="Arial"/>
              <a:buChar char="•"/>
            </a:pPr>
            <a:r>
              <a:rPr lang="en-US" sz="2870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Fuse Transformer with symbolic rules (grammar, key patterns)</a:t>
            </a:r>
          </a:p>
          <a:p>
            <a:pPr algn="l">
              <a:lnSpc>
                <a:spcPts val="2884"/>
              </a:lnSpc>
            </a:pPr>
          </a:p>
          <a:p>
            <a:pPr algn="l" marL="576578" indent="-288289" lvl="1">
              <a:lnSpc>
                <a:spcPts val="2884"/>
              </a:lnSpc>
              <a:buFont typeface="Arial"/>
              <a:buChar char="•"/>
            </a:pPr>
            <a:r>
              <a:rPr lang="en-US" sz="2670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Improves generalization and interpretability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303867" y="1900369"/>
            <a:ext cx="4374702" cy="6994436"/>
          </a:xfrm>
          <a:custGeom>
            <a:avLst/>
            <a:gdLst/>
            <a:ahLst/>
            <a:cxnLst/>
            <a:rect r="r" b="b" t="t" l="l"/>
            <a:pathLst>
              <a:path h="6994436" w="4374702">
                <a:moveTo>
                  <a:pt x="0" y="0"/>
                </a:moveTo>
                <a:lnTo>
                  <a:pt x="4374702" y="0"/>
                </a:lnTo>
                <a:lnTo>
                  <a:pt x="4374702" y="6994437"/>
                </a:lnTo>
                <a:lnTo>
                  <a:pt x="0" y="69944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043215" y="1900369"/>
            <a:ext cx="4374702" cy="6994436"/>
          </a:xfrm>
          <a:custGeom>
            <a:avLst/>
            <a:gdLst/>
            <a:ahLst/>
            <a:cxnLst/>
            <a:rect r="r" b="b" t="t" l="l"/>
            <a:pathLst>
              <a:path h="6994436" w="4374702">
                <a:moveTo>
                  <a:pt x="0" y="0"/>
                </a:moveTo>
                <a:lnTo>
                  <a:pt x="4374702" y="0"/>
                </a:lnTo>
                <a:lnTo>
                  <a:pt x="4374702" y="6994437"/>
                </a:lnTo>
                <a:lnTo>
                  <a:pt x="0" y="69944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4735" y="1900369"/>
            <a:ext cx="4374702" cy="6994436"/>
          </a:xfrm>
          <a:custGeom>
            <a:avLst/>
            <a:gdLst/>
            <a:ahLst/>
            <a:cxnLst/>
            <a:rect r="r" b="b" t="t" l="l"/>
            <a:pathLst>
              <a:path h="6994436" w="4374702">
                <a:moveTo>
                  <a:pt x="0" y="0"/>
                </a:moveTo>
                <a:lnTo>
                  <a:pt x="4374702" y="0"/>
                </a:lnTo>
                <a:lnTo>
                  <a:pt x="4374702" y="6994437"/>
                </a:lnTo>
                <a:lnTo>
                  <a:pt x="0" y="69944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27513" y="2572504"/>
            <a:ext cx="3826103" cy="517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0"/>
              </a:lnSpc>
              <a:spcBef>
                <a:spcPct val="0"/>
              </a:spcBef>
            </a:pPr>
            <a:r>
              <a:rPr lang="en-US" sz="3342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Phase 1: </a:t>
            </a:r>
          </a:p>
          <a:p>
            <a:pPr algn="ctr">
              <a:lnSpc>
                <a:spcPts val="3610"/>
              </a:lnSpc>
              <a:spcBef>
                <a:spcPct val="0"/>
              </a:spcBef>
            </a:pPr>
          </a:p>
          <a:p>
            <a:pPr algn="l" marL="612329" indent="-306165" lvl="1">
              <a:lnSpc>
                <a:spcPts val="3063"/>
              </a:lnSpc>
              <a:buFont typeface="Arial"/>
              <a:buChar char="•"/>
            </a:pPr>
            <a:r>
              <a:rPr lang="en-US" sz="2836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Use basic neural networks to learn cipher patterns</a:t>
            </a:r>
          </a:p>
          <a:p>
            <a:pPr algn="l">
              <a:lnSpc>
                <a:spcPts val="3063"/>
              </a:lnSpc>
            </a:pPr>
          </a:p>
          <a:p>
            <a:pPr algn="l" marL="612329" indent="-306165" lvl="1">
              <a:lnSpc>
                <a:spcPts val="3063"/>
              </a:lnSpc>
              <a:buFont typeface="Arial"/>
              <a:buChar char="•"/>
            </a:pPr>
            <a:r>
              <a:rPr lang="en-US" sz="2836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Train on Caesar encrypted text</a:t>
            </a:r>
          </a:p>
          <a:p>
            <a:pPr algn="l">
              <a:lnSpc>
                <a:spcPts val="3063"/>
              </a:lnSpc>
            </a:pPr>
          </a:p>
          <a:p>
            <a:pPr algn="l" marL="612329" indent="-306165" lvl="1">
              <a:lnSpc>
                <a:spcPts val="3063"/>
              </a:lnSpc>
              <a:buFont typeface="Arial"/>
              <a:buChar char="•"/>
            </a:pPr>
            <a:r>
              <a:rPr lang="en-US" sz="2836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Measure character recovery accuracy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06696" y="2475315"/>
            <a:ext cx="3847739" cy="587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5"/>
              </a:lnSpc>
              <a:spcBef>
                <a:spcPct val="0"/>
              </a:spcBef>
            </a:pPr>
            <a:r>
              <a:rPr lang="en-US" sz="28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Phase 2: </a:t>
            </a:r>
          </a:p>
          <a:p>
            <a:pPr algn="ctr">
              <a:lnSpc>
                <a:spcPts val="3105"/>
              </a:lnSpc>
              <a:spcBef>
                <a:spcPct val="0"/>
              </a:spcBef>
            </a:pPr>
          </a:p>
          <a:p>
            <a:pPr algn="l" marL="620780" indent="-310390" lvl="1">
              <a:lnSpc>
                <a:spcPts val="3105"/>
              </a:lnSpc>
              <a:buFont typeface="Arial"/>
              <a:buChar char="•"/>
            </a:pPr>
            <a:r>
              <a:rPr lang="en-US" sz="28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Apply sequence-to-sequence Transformer model</a:t>
            </a:r>
          </a:p>
          <a:p>
            <a:pPr algn="l">
              <a:lnSpc>
                <a:spcPts val="3105"/>
              </a:lnSpc>
            </a:pPr>
          </a:p>
          <a:p>
            <a:pPr algn="l" marL="620780" indent="-310390" lvl="1">
              <a:lnSpc>
                <a:spcPts val="3105"/>
              </a:lnSpc>
              <a:buFont typeface="Arial"/>
              <a:buChar char="•"/>
            </a:pPr>
            <a:r>
              <a:rPr lang="en-US" sz="28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Model learns token dependencies in ciphertext</a:t>
            </a:r>
          </a:p>
          <a:p>
            <a:pPr algn="l">
              <a:lnSpc>
                <a:spcPts val="3105"/>
              </a:lnSpc>
            </a:pPr>
          </a:p>
          <a:p>
            <a:pPr algn="l" marL="620780" indent="-310390" lvl="1">
              <a:lnSpc>
                <a:spcPts val="3105"/>
              </a:lnSpc>
              <a:buFont typeface="Arial"/>
              <a:buChar char="•"/>
            </a:pPr>
            <a:r>
              <a:rPr lang="en-US" sz="2875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Output: Predicted plaintext sequences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91562" y="2652897"/>
            <a:ext cx="13908325" cy="45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1"/>
              </a:lnSpc>
              <a:spcBef>
                <a:spcPct val="0"/>
              </a:spcBef>
            </a:pPr>
          </a:p>
          <a:p>
            <a:pPr algn="ctr">
              <a:lnSpc>
                <a:spcPts val="4425"/>
              </a:lnSpc>
              <a:spcBef>
                <a:spcPct val="0"/>
              </a:spcBef>
            </a:pPr>
            <a:r>
              <a:rPr lang="en-US" b="true" sz="4097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Goal:</a:t>
            </a:r>
            <a:r>
              <a:rPr lang="en-US" sz="4097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</a:t>
            </a:r>
          </a:p>
          <a:p>
            <a:pPr algn="ctr">
              <a:lnSpc>
                <a:spcPts val="4425"/>
              </a:lnSpc>
              <a:spcBef>
                <a:spcPct val="0"/>
              </a:spcBef>
            </a:pPr>
            <a:r>
              <a:rPr lang="en-US" sz="4097">
                <a:solidFill>
                  <a:srgbClr val="00BBDE"/>
                </a:solidFill>
                <a:latin typeface="Lovelace"/>
                <a:ea typeface="Lovelace"/>
                <a:cs typeface="Lovelace"/>
                <a:sym typeface="Lovelace"/>
              </a:rPr>
              <a:t>Enhance Decryption Accuracy</a:t>
            </a:r>
          </a:p>
          <a:p>
            <a:pPr algn="ctr">
              <a:lnSpc>
                <a:spcPts val="4425"/>
              </a:lnSpc>
              <a:spcBef>
                <a:spcPct val="0"/>
              </a:spcBef>
            </a:pPr>
          </a:p>
          <a:p>
            <a:pPr algn="ctr" marL="733545" indent="-366772" lvl="1">
              <a:lnSpc>
                <a:spcPts val="3669"/>
              </a:lnSpc>
              <a:buFont typeface="Arial"/>
              <a:buChar char="•"/>
            </a:pPr>
            <a:r>
              <a:rPr lang="en-US" sz="3397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Integrate </a:t>
            </a:r>
            <a:r>
              <a:rPr lang="en-US" b="true" sz="3397" u="sng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Transformer</a:t>
            </a:r>
            <a:r>
              <a:rPr lang="en-US" b="true" sz="3397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 </a:t>
            </a:r>
            <a:r>
              <a:rPr lang="en-US" sz="3397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for better sequence modeling</a:t>
            </a:r>
          </a:p>
          <a:p>
            <a:pPr algn="ctr">
              <a:lnSpc>
                <a:spcPts val="3669"/>
              </a:lnSpc>
            </a:pPr>
          </a:p>
          <a:p>
            <a:pPr algn="ctr" marL="733545" indent="-366772" lvl="1">
              <a:lnSpc>
                <a:spcPts val="3669"/>
              </a:lnSpc>
              <a:buFont typeface="Arial"/>
              <a:buChar char="•"/>
            </a:pPr>
            <a:r>
              <a:rPr lang="en-US" sz="3397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Train on diverse encrypted datasets (beyond Caesar)</a:t>
            </a:r>
          </a:p>
          <a:p>
            <a:pPr algn="ctr">
              <a:lnSpc>
                <a:spcPts val="3669"/>
              </a:lnSpc>
            </a:pPr>
          </a:p>
          <a:p>
            <a:pPr algn="ctr" marL="733545" indent="-366772" lvl="1">
              <a:lnSpc>
                <a:spcPts val="3669"/>
              </a:lnSpc>
              <a:buFont typeface="Arial"/>
              <a:buChar char="•"/>
            </a:pPr>
            <a:r>
              <a:rPr lang="en-US" sz="3397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Focus on learning deep patterns in ciphertexts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46080" y="1150785"/>
            <a:ext cx="7795840" cy="54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5"/>
              </a:lnSpc>
              <a:spcBef>
                <a:spcPct val="0"/>
              </a:spcBef>
            </a:pPr>
            <a:r>
              <a:rPr lang="en-US" sz="3875">
                <a:solidFill>
                  <a:srgbClr val="00FFFF"/>
                </a:solidFill>
                <a:latin typeface="HK Modular"/>
                <a:ea typeface="HK Modular"/>
                <a:cs typeface="HK Modular"/>
                <a:sym typeface="HK Modular"/>
              </a:rPr>
              <a:t> Future Work – Step 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46080" y="1150785"/>
            <a:ext cx="7795840" cy="54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5"/>
              </a:lnSpc>
              <a:spcBef>
                <a:spcPct val="0"/>
              </a:spcBef>
            </a:pPr>
            <a:r>
              <a:rPr lang="en-US" sz="3875">
                <a:solidFill>
                  <a:srgbClr val="00FFFF"/>
                </a:solidFill>
                <a:latin typeface="HK Modular"/>
                <a:ea typeface="HK Modular"/>
                <a:cs typeface="HK Modular"/>
                <a:sym typeface="HK Modular"/>
              </a:rPr>
              <a:t> Future Work – Step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93281" y="3325032"/>
            <a:ext cx="14101437" cy="411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  <a:spcBef>
                <a:spcPct val="0"/>
              </a:spcBef>
            </a:pPr>
            <a:r>
              <a:rPr lang="en-US" sz="425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Goal:</a:t>
            </a:r>
          </a:p>
          <a:p>
            <a:pPr algn="ctr">
              <a:lnSpc>
                <a:spcPts val="4599"/>
              </a:lnSpc>
              <a:spcBef>
                <a:spcPct val="0"/>
              </a:spcBef>
            </a:pPr>
            <a:r>
              <a:rPr lang="en-US" sz="425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</a:t>
            </a:r>
            <a:r>
              <a:rPr lang="en-US" sz="4258">
                <a:solidFill>
                  <a:srgbClr val="00BBDE"/>
                </a:solidFill>
                <a:latin typeface="Lovelace"/>
                <a:ea typeface="Lovelace"/>
                <a:cs typeface="Lovelace"/>
                <a:sym typeface="Lovelace"/>
              </a:rPr>
              <a:t>Add Memory &amp; Logic</a:t>
            </a:r>
          </a:p>
          <a:p>
            <a:pPr algn="ctr">
              <a:lnSpc>
                <a:spcPts val="3843"/>
              </a:lnSpc>
              <a:spcBef>
                <a:spcPct val="0"/>
              </a:spcBef>
            </a:pPr>
          </a:p>
          <a:p>
            <a:pPr algn="ctr" marL="768358" indent="-384179" lvl="1">
              <a:lnSpc>
                <a:spcPts val="3843"/>
              </a:lnSpc>
              <a:buFont typeface="Arial"/>
              <a:buChar char="•"/>
            </a:pPr>
            <a:r>
              <a:rPr lang="en-US" sz="355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Embed </a:t>
            </a:r>
            <a:r>
              <a:rPr lang="en-US" b="true" sz="3558" u="sng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Hopfield Networks</a:t>
            </a:r>
            <a:r>
              <a:rPr lang="en-US" sz="355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for symbolic memory recall</a:t>
            </a:r>
          </a:p>
          <a:p>
            <a:pPr algn="ctr">
              <a:lnSpc>
                <a:spcPts val="3843"/>
              </a:lnSpc>
            </a:pPr>
          </a:p>
          <a:p>
            <a:pPr algn="ctr" marL="768358" indent="-384179" lvl="1">
              <a:lnSpc>
                <a:spcPts val="3843"/>
              </a:lnSpc>
              <a:buFont typeface="Arial"/>
              <a:buChar char="•"/>
            </a:pPr>
            <a:r>
              <a:rPr lang="en-US" sz="355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Fuse logical rules with neural inference</a:t>
            </a:r>
          </a:p>
          <a:p>
            <a:pPr algn="ctr">
              <a:lnSpc>
                <a:spcPts val="3843"/>
              </a:lnSpc>
            </a:pPr>
          </a:p>
          <a:p>
            <a:pPr algn="ctr" marL="768358" indent="-384179" lvl="1">
              <a:lnSpc>
                <a:spcPts val="3843"/>
              </a:lnSpc>
              <a:buFont typeface="Arial"/>
              <a:buChar char="•"/>
            </a:pPr>
            <a:r>
              <a:rPr lang="en-US" sz="355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Enable the model to generalize across cipher types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46080" y="1150785"/>
            <a:ext cx="7795840" cy="54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5"/>
              </a:lnSpc>
              <a:spcBef>
                <a:spcPct val="0"/>
              </a:spcBef>
            </a:pPr>
            <a:r>
              <a:rPr lang="en-US" sz="3875">
                <a:solidFill>
                  <a:srgbClr val="00FFFF"/>
                </a:solidFill>
                <a:latin typeface="HK Modular"/>
                <a:ea typeface="HK Modular"/>
                <a:cs typeface="HK Modular"/>
                <a:sym typeface="HK Modular"/>
              </a:rPr>
              <a:t> Future Work – Step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4408" y="3142226"/>
            <a:ext cx="12759184" cy="405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7"/>
              </a:lnSpc>
              <a:spcBef>
                <a:spcPct val="0"/>
              </a:spcBef>
            </a:pPr>
            <a:r>
              <a:rPr lang="en-US" sz="4284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Goal:</a:t>
            </a:r>
          </a:p>
          <a:p>
            <a:pPr algn="ctr">
              <a:lnSpc>
                <a:spcPts val="4627"/>
              </a:lnSpc>
              <a:spcBef>
                <a:spcPct val="0"/>
              </a:spcBef>
            </a:pPr>
            <a:r>
              <a:rPr lang="en-US" sz="4284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</a:t>
            </a:r>
            <a:r>
              <a:rPr lang="en-US" sz="4284">
                <a:solidFill>
                  <a:srgbClr val="00BBDE"/>
                </a:solidFill>
                <a:latin typeface="Lovelace"/>
                <a:ea typeface="Lovelace"/>
                <a:cs typeface="Lovelace"/>
                <a:sym typeface="Lovelace"/>
              </a:rPr>
              <a:t>Optimize Key Recovery</a:t>
            </a:r>
          </a:p>
          <a:p>
            <a:pPr algn="ctr">
              <a:lnSpc>
                <a:spcPts val="3763"/>
              </a:lnSpc>
              <a:spcBef>
                <a:spcPct val="0"/>
              </a:spcBef>
            </a:pPr>
          </a:p>
          <a:p>
            <a:pPr algn="ctr" marL="752271" indent="-376136" lvl="1">
              <a:lnSpc>
                <a:spcPts val="3763"/>
              </a:lnSpc>
              <a:buFont typeface="Arial"/>
              <a:buChar char="•"/>
            </a:pPr>
            <a:r>
              <a:rPr lang="en-US" sz="3484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Use </a:t>
            </a:r>
            <a:r>
              <a:rPr lang="en-US" b="true" sz="3484" u="sng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Simulated Quantum Annealing (SQA)</a:t>
            </a:r>
            <a:r>
              <a:rPr lang="en-US" sz="3484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for search</a:t>
            </a:r>
          </a:p>
          <a:p>
            <a:pPr algn="ctr">
              <a:lnSpc>
                <a:spcPts val="3763"/>
              </a:lnSpc>
            </a:pPr>
          </a:p>
          <a:p>
            <a:pPr algn="ctr" marL="752271" indent="-376136" lvl="1">
              <a:lnSpc>
                <a:spcPts val="3763"/>
              </a:lnSpc>
              <a:buFont typeface="Arial"/>
              <a:buChar char="•"/>
            </a:pPr>
            <a:r>
              <a:rPr lang="en-US" sz="3484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Formulate decryption as energy minimization</a:t>
            </a:r>
          </a:p>
          <a:p>
            <a:pPr algn="ctr">
              <a:lnSpc>
                <a:spcPts val="3763"/>
              </a:lnSpc>
            </a:pPr>
          </a:p>
          <a:p>
            <a:pPr algn="ctr" marL="752271" indent="-376136" lvl="1">
              <a:lnSpc>
                <a:spcPts val="3763"/>
              </a:lnSpc>
              <a:buFont typeface="Arial"/>
              <a:buChar char="•"/>
            </a:pPr>
            <a:r>
              <a:rPr lang="en-US" sz="3484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Test model on modern cryptosystems like AES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6134" y="1737354"/>
            <a:ext cx="348861" cy="327929"/>
          </a:xfrm>
          <a:custGeom>
            <a:avLst/>
            <a:gdLst/>
            <a:ahLst/>
            <a:cxnLst/>
            <a:rect r="r" b="b" t="t" l="l"/>
            <a:pathLst>
              <a:path h="327929" w="348861">
                <a:moveTo>
                  <a:pt x="0" y="0"/>
                </a:moveTo>
                <a:lnTo>
                  <a:pt x="348861" y="0"/>
                </a:lnTo>
                <a:lnTo>
                  <a:pt x="348861" y="327929"/>
                </a:lnTo>
                <a:lnTo>
                  <a:pt x="0" y="327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8406" y="328634"/>
            <a:ext cx="12661879" cy="70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sz="4377">
                <a:solidFill>
                  <a:srgbClr val="00FFFF"/>
                </a:solidFill>
                <a:latin typeface="HK Modular"/>
                <a:ea typeface="HK Modular"/>
                <a:cs typeface="HK Modular"/>
                <a:sym typeface="HK Modular"/>
              </a:rPr>
              <a:t>PROJECT APPLICATIONS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14995" y="1205005"/>
            <a:ext cx="11941204" cy="816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248" indent="-307624" lvl="1">
              <a:lnSpc>
                <a:spcPts val="3077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Security Audit &amp; Vulnerability Testing Tool</a:t>
            </a:r>
          </a:p>
          <a:p>
            <a:pPr algn="l" marL="1230496" indent="-410165" lvl="2">
              <a:lnSpc>
                <a:spcPts val="3077"/>
              </a:lnSpc>
              <a:buFont typeface="Arial"/>
              <a:buChar char="⚬"/>
            </a:pPr>
            <a:r>
              <a:rPr lang="en-US" sz="2849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Use-case: Testing how weak a cipher or key management system is.</a:t>
            </a:r>
          </a:p>
          <a:p>
            <a:pPr algn="l" marL="1230496" indent="-410165" lvl="2">
              <a:lnSpc>
                <a:spcPts val="3077"/>
              </a:lnSpc>
              <a:spcBef>
                <a:spcPct val="0"/>
              </a:spcBef>
              <a:buFont typeface="Arial"/>
              <a:buChar char="⚬"/>
            </a:pPr>
            <a:r>
              <a:rPr lang="en-US" sz="2849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Why it matters: The system mimics real-world attackers using AI. Organizations can test custom or toy encryption algorithms for vulnerabilities before deployment.</a:t>
            </a:r>
          </a:p>
          <a:p>
            <a:pPr algn="l">
              <a:lnSpc>
                <a:spcPts val="3077"/>
              </a:lnSpc>
              <a:spcBef>
                <a:spcPct val="0"/>
              </a:spcBef>
            </a:pPr>
          </a:p>
          <a:p>
            <a:pPr algn="l" marL="615248" indent="-307624" lvl="1">
              <a:lnSpc>
                <a:spcPts val="3077"/>
              </a:lnSpc>
              <a:spcBef>
                <a:spcPct val="0"/>
              </a:spcBef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Logic Extraction from Black-Box Systems</a:t>
            </a:r>
          </a:p>
          <a:p>
            <a:pPr algn="l" marL="1230496" indent="-410165" lvl="2">
              <a:lnSpc>
                <a:spcPts val="3077"/>
              </a:lnSpc>
              <a:spcBef>
                <a:spcPct val="0"/>
              </a:spcBef>
              <a:buFont typeface="Arial"/>
              <a:buChar char="⚬"/>
            </a:pPr>
            <a:r>
              <a:rPr lang="en-US" sz="2849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Use-case: Reverse-engineering unknown or undocumented encryption systems.</a:t>
            </a:r>
          </a:p>
          <a:p>
            <a:pPr algn="l" marL="1230496" indent="-410165" lvl="2">
              <a:lnSpc>
                <a:spcPts val="3077"/>
              </a:lnSpc>
              <a:spcBef>
                <a:spcPct val="0"/>
              </a:spcBef>
              <a:buFont typeface="Arial"/>
              <a:buChar char="⚬"/>
            </a:pPr>
            <a:r>
              <a:rPr lang="en-US" sz="2849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Why it matters: Your neuro-symbolic module learns and reconstructs cipher logic from input-output pairs—useful in malware analysis or analyzing proprietary encryption.</a:t>
            </a:r>
          </a:p>
          <a:p>
            <a:pPr algn="l">
              <a:lnSpc>
                <a:spcPts val="3077"/>
              </a:lnSpc>
              <a:spcBef>
                <a:spcPct val="0"/>
              </a:spcBef>
            </a:pPr>
          </a:p>
          <a:p>
            <a:pPr algn="l" marL="615248" indent="-307624" lvl="1">
              <a:lnSpc>
                <a:spcPts val="3077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Proof-of-Concept for AI + Quantum-Inspired Cryptanalysis</a:t>
            </a:r>
          </a:p>
          <a:p>
            <a:pPr algn="l" marL="1230496" indent="-410165" lvl="2">
              <a:lnSpc>
                <a:spcPts val="3077"/>
              </a:lnSpc>
              <a:buFont typeface="Arial"/>
              <a:buChar char="⚬"/>
            </a:pPr>
            <a:r>
              <a:rPr lang="en-US" sz="2849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Use-case: Show how simulated quantum annealing (SQA) and AI together shrink large keyspaces.</a:t>
            </a:r>
          </a:p>
          <a:p>
            <a:pPr algn="l" marL="1230496" indent="-410165" lvl="2">
              <a:lnSpc>
                <a:spcPts val="3077"/>
              </a:lnSpc>
              <a:buFont typeface="Arial"/>
              <a:buChar char="⚬"/>
            </a:pPr>
            <a:r>
              <a:rPr lang="en-US" sz="2849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Why it matters: Useful for benchmarking hybrid AI-quantum cryptanalytic strategies—possibly relevant in post-quantum cryptography research.</a:t>
            </a:r>
          </a:p>
          <a:p>
            <a:pPr algn="l" marL="577643" indent="-288822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966134" y="4979535"/>
            <a:ext cx="348861" cy="327929"/>
          </a:xfrm>
          <a:custGeom>
            <a:avLst/>
            <a:gdLst/>
            <a:ahLst/>
            <a:cxnLst/>
            <a:rect r="r" b="b" t="t" l="l"/>
            <a:pathLst>
              <a:path h="327929" w="348861">
                <a:moveTo>
                  <a:pt x="0" y="0"/>
                </a:moveTo>
                <a:lnTo>
                  <a:pt x="348861" y="0"/>
                </a:lnTo>
                <a:lnTo>
                  <a:pt x="348861" y="327930"/>
                </a:lnTo>
                <a:lnTo>
                  <a:pt x="0" y="32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18141" y="3648280"/>
            <a:ext cx="11183517" cy="149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1"/>
              </a:lnSpc>
            </a:pPr>
            <a:r>
              <a:rPr lang="en-US" sz="945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DAGvR6oEX00</dc:identifier>
  <dcterms:modified xsi:type="dcterms:W3CDTF">2011-08-01T06:04:30Z</dcterms:modified>
  <cp:revision>1</cp:revision>
  <dc:title>Cryptanalysis PPT 1</dc:title>
</cp:coreProperties>
</file>